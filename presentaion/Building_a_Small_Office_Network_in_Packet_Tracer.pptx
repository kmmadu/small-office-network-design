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9437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87732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5895341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1481729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5302853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5097684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5052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280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0398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3111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7235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8707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7559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5762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4683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991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4049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3037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7764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14491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5314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7494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2382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992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364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4565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6464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530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58817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0923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5432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080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41673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5310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2673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83327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6157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5466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80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1953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73097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12441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590443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46635660" name="Text 0"/>
          <p:cNvSpPr/>
          <p:nvPr/>
        </p:nvSpPr>
        <p:spPr bwMode="auto">
          <a:xfrm>
            <a:off x="457200" y="1163566"/>
            <a:ext cx="5212091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  <a:defRPr/>
            </a:pPr>
            <a:r>
              <a:rPr lang="en-US" sz="3300" b="1">
                <a:solidFill>
                  <a:srgbClr val="1A1A1A"/>
                </a:solidFill>
              </a:rPr>
              <a:t>Building a Small</a:t>
            </a:r>
            <a:br>
              <a:rPr lang="en-US" sz="3300" b="1">
                <a:solidFill>
                  <a:srgbClr val="1A1A1A"/>
                </a:solidFill>
              </a:rPr>
            </a:br>
            <a:r>
              <a:rPr lang="en-US" sz="3300" b="1">
                <a:solidFill>
                  <a:srgbClr val="1A1A1A"/>
                </a:solidFill>
              </a:rPr>
              <a:t>Office Network in</a:t>
            </a:r>
            <a:br>
              <a:rPr lang="en-US" sz="3300" b="1">
                <a:solidFill>
                  <a:srgbClr val="1A1A1A"/>
                </a:solidFill>
              </a:rPr>
            </a:br>
            <a:r>
              <a:rPr lang="en-US" sz="3300" b="1">
                <a:solidFill>
                  <a:srgbClr val="1A1A1A"/>
                </a:solidFill>
              </a:rPr>
              <a:t>Packet Tracer</a:t>
            </a:r>
            <a:endParaRPr lang="en-US" sz="3300"/>
          </a:p>
        </p:txBody>
      </p:sp>
      <p:sp>
        <p:nvSpPr>
          <p:cNvPr id="734285285" name="Text 1"/>
          <p:cNvSpPr/>
          <p:nvPr/>
        </p:nvSpPr>
        <p:spPr bwMode="auto">
          <a:xfrm>
            <a:off x="457200" y="2958043"/>
            <a:ext cx="5212091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700">
                <a:solidFill>
                  <a:srgbClr val="333333"/>
                </a:solidFill>
              </a:rPr>
              <a:t>A Complete Guide to VLAN</a:t>
            </a:r>
            <a:br>
              <a:rPr lang="en-US" sz="1700">
                <a:solidFill>
                  <a:srgbClr val="333333"/>
                </a:solidFill>
              </a:rPr>
            </a:br>
            <a:r>
              <a:rPr lang="en-US" sz="1700">
                <a:solidFill>
                  <a:srgbClr val="333333"/>
                </a:solidFill>
              </a:rPr>
              <a:t>Segmentation &amp; Routing</a:t>
            </a:r>
            <a:endParaRPr lang="en-US" sz="1700"/>
          </a:p>
        </p:txBody>
      </p:sp>
      <p:sp>
        <p:nvSpPr>
          <p:cNvPr id="1685388933" name="Text 2"/>
          <p:cNvSpPr/>
          <p:nvPr/>
        </p:nvSpPr>
        <p:spPr bwMode="auto">
          <a:xfrm>
            <a:off x="457200" y="3840296"/>
            <a:ext cx="521209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  <a:defRPr/>
            </a:pPr>
            <a:r>
              <a:rPr lang="en-US" sz="1000" b="1">
                <a:solidFill>
                  <a:srgbClr val="1A1A1A"/>
                </a:solidFill>
              </a:rPr>
              <a:t>Kingsley Mmadubugwu</a:t>
            </a:r>
            <a:endParaRPr lang="en-US" sz="1000"/>
          </a:p>
        </p:txBody>
      </p:sp>
      <p:sp>
        <p:nvSpPr>
          <p:cNvPr id="919299874" name="Text 3"/>
          <p:cNvSpPr/>
          <p:nvPr/>
        </p:nvSpPr>
        <p:spPr bwMode="auto">
          <a:xfrm>
            <a:off x="457200" y="4177838"/>
            <a:ext cx="5212091" cy="155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  <a:defRPr/>
            </a:pPr>
            <a:r>
              <a:rPr lang="en-US" sz="850" spc="2">
                <a:solidFill>
                  <a:srgbClr val="0055FF"/>
                </a:solidFill>
              </a:rPr>
              <a:t>Support Engineer | Swifttalk LTD</a:t>
            </a:r>
            <a:endParaRPr lang="en-US" sz="850"/>
          </a:p>
        </p:txBody>
      </p:sp>
      <p:sp>
        <p:nvSpPr>
          <p:cNvPr id="583362514" name="Shape 4"/>
          <p:cNvSpPr/>
          <p:nvPr/>
        </p:nvSpPr>
        <p:spPr bwMode="auto">
          <a:xfrm>
            <a:off x="5669291" y="0"/>
            <a:ext cx="3474709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2146426828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18681" y="1051554"/>
            <a:ext cx="2975902" cy="3040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432089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0"/>
            <a:ext cx="9144000" cy="6227194"/>
          </a:xfrm>
          <a:prstGeom prst="rect">
            <a:avLst/>
          </a:prstGeom>
        </p:spPr>
      </p:pic>
      <p:sp>
        <p:nvSpPr>
          <p:cNvPr id="1332954467" name="Shape 0"/>
          <p:cNvSpPr/>
          <p:nvPr/>
        </p:nvSpPr>
        <p:spPr bwMode="auto">
          <a:xfrm>
            <a:off x="0" y="-164739"/>
            <a:ext cx="9144000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42548898" name="Text 1"/>
          <p:cNvSpPr/>
          <p:nvPr/>
        </p:nvSpPr>
        <p:spPr bwMode="auto">
          <a:xfrm flipH="0" flipV="0">
            <a:off x="570060" y="337904"/>
            <a:ext cx="8573939" cy="406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450" b="1">
                <a:solidFill>
                  <a:srgbClr val="F2F2F2"/>
                </a:solidFill>
              </a:rPr>
              <a:t>Network Topology Overview</a:t>
            </a:r>
            <a:endParaRPr lang="en-US" sz="2450"/>
          </a:p>
        </p:txBody>
      </p:sp>
      <p:pic>
        <p:nvPicPr>
          <p:cNvPr id="1347797204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59130" y="978259"/>
            <a:ext cx="7143750" cy="4162944"/>
          </a:xfrm>
          <a:prstGeom prst="rect">
            <a:avLst/>
          </a:prstGeom>
        </p:spPr>
      </p:pic>
      <p:sp>
        <p:nvSpPr>
          <p:cNvPr id="782581109" name="Text 2"/>
          <p:cNvSpPr/>
          <p:nvPr/>
        </p:nvSpPr>
        <p:spPr bwMode="auto">
          <a:xfrm>
            <a:off x="1357312" y="6462693"/>
            <a:ext cx="6430814" cy="203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  <a:defRPr/>
            </a:pP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2416195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40456169" name="Shape 0"/>
          <p:cNvSpPr/>
          <p:nvPr/>
        </p:nvSpPr>
        <p:spPr bwMode="auto">
          <a:xfrm>
            <a:off x="0" y="0"/>
            <a:ext cx="1943100" cy="514350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583425071" name="Text 1"/>
          <p:cNvSpPr/>
          <p:nvPr/>
        </p:nvSpPr>
        <p:spPr bwMode="auto">
          <a:xfrm>
            <a:off x="342900" y="1188709"/>
            <a:ext cx="16002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  <a:defRPr/>
            </a:pPr>
            <a:r>
              <a:rPr lang="en-US" sz="4150" b="1">
                <a:solidFill>
                  <a:srgbClr val="F2F2F2"/>
                </a:solidFill>
              </a:rPr>
              <a:t>01</a:t>
            </a:r>
            <a:endParaRPr lang="en-US" sz="4150"/>
          </a:p>
        </p:txBody>
      </p:sp>
      <p:sp>
        <p:nvSpPr>
          <p:cNvPr id="2049678947" name="Text 2"/>
          <p:cNvSpPr/>
          <p:nvPr/>
        </p:nvSpPr>
        <p:spPr bwMode="auto">
          <a:xfrm>
            <a:off x="342900" y="2234543"/>
            <a:ext cx="1600200" cy="37683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50" spc="2">
                <a:solidFill>
                  <a:srgbClr val="F2F2F2"/>
                </a:solidFill>
              </a:rPr>
              <a:t>Phase One</a:t>
            </a:r>
            <a:endParaRPr lang="en-US" sz="1250"/>
          </a:p>
        </p:txBody>
      </p:sp>
      <p:sp>
        <p:nvSpPr>
          <p:cNvPr id="1475307194" name="Text 3"/>
          <p:cNvSpPr/>
          <p:nvPr/>
        </p:nvSpPr>
        <p:spPr bwMode="auto">
          <a:xfrm>
            <a:off x="2343150" y="771525"/>
            <a:ext cx="64008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450" b="1">
                <a:solidFill>
                  <a:srgbClr val="1A1A1A"/>
                </a:solidFill>
              </a:rPr>
              <a:t>Physical Topology</a:t>
            </a:r>
            <a:endParaRPr lang="en-US" sz="2450"/>
          </a:p>
        </p:txBody>
      </p:sp>
      <p:sp>
        <p:nvSpPr>
          <p:cNvPr id="2114602369" name="Text 4"/>
          <p:cNvSpPr/>
          <p:nvPr/>
        </p:nvSpPr>
        <p:spPr bwMode="auto">
          <a:xfrm>
            <a:off x="2343150" y="1294805"/>
            <a:ext cx="6400800" cy="369689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00" b="1">
                <a:solidFill>
                  <a:srgbClr val="1A1A1A"/>
                </a:solidFill>
              </a:rPr>
              <a:t>Devices Used</a:t>
            </a:r>
            <a:endParaRPr lang="en-US" sz="1200"/>
          </a:p>
        </p:txBody>
      </p:sp>
      <p:sp>
        <p:nvSpPr>
          <p:cNvPr id="656839231" name="Text 5"/>
          <p:cNvSpPr/>
          <p:nvPr/>
        </p:nvSpPr>
        <p:spPr bwMode="auto">
          <a:xfrm>
            <a:off x="2343150" y="1664494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</a:t>
            </a:r>
            <a:r>
              <a:rPr lang="en-US" sz="1000" b="1">
                <a:solidFill>
                  <a:srgbClr val="0055FF"/>
                </a:solidFill>
              </a:rPr>
              <a:t>Main Router</a:t>
            </a:r>
            <a:r>
              <a:rPr lang="en-US" sz="1050">
                <a:solidFill>
                  <a:srgbClr val="333333"/>
                </a:solidFill>
              </a:rPr>
              <a:t> (Customer Edge Router)</a:t>
            </a:r>
            <a:endParaRPr lang="en-US" sz="1050"/>
          </a:p>
        </p:txBody>
      </p:sp>
      <p:sp>
        <p:nvSpPr>
          <p:cNvPr id="586747191" name="Text 6"/>
          <p:cNvSpPr/>
          <p:nvPr/>
        </p:nvSpPr>
        <p:spPr bwMode="auto">
          <a:xfrm>
            <a:off x="2343150" y="1964531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</a:t>
            </a:r>
            <a:r>
              <a:rPr lang="en-US" sz="1000" b="1">
                <a:solidFill>
                  <a:srgbClr val="0055FF"/>
                </a:solidFill>
              </a:rPr>
              <a:t>Layer 2 Switch</a:t>
            </a:r>
            <a:r>
              <a:rPr lang="en-US" sz="1050">
                <a:solidFill>
                  <a:srgbClr val="333333"/>
                </a:solidFill>
              </a:rPr>
              <a:t> (Central connectivity)</a:t>
            </a:r>
            <a:endParaRPr lang="en-US" sz="1050"/>
          </a:p>
        </p:txBody>
      </p:sp>
      <p:sp>
        <p:nvSpPr>
          <p:cNvPr id="1769003845" name="Text 7"/>
          <p:cNvSpPr/>
          <p:nvPr/>
        </p:nvSpPr>
        <p:spPr bwMode="auto">
          <a:xfrm>
            <a:off x="2343150" y="2264569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</a:t>
            </a:r>
            <a:r>
              <a:rPr lang="en-US" sz="1000" b="1">
                <a:solidFill>
                  <a:srgbClr val="0055FF"/>
                </a:solidFill>
              </a:rPr>
              <a:t>20 PCs</a:t>
            </a:r>
            <a:r>
              <a:rPr lang="en-US" sz="1050">
                <a:solidFill>
                  <a:srgbClr val="333333"/>
                </a:solidFill>
              </a:rPr>
              <a:t> (3 Departments: VLAN 10, 20, 30)</a:t>
            </a:r>
            <a:endParaRPr lang="en-US" sz="1050"/>
          </a:p>
        </p:txBody>
      </p:sp>
      <p:sp>
        <p:nvSpPr>
          <p:cNvPr id="466219078" name="Text 8"/>
          <p:cNvSpPr/>
          <p:nvPr/>
        </p:nvSpPr>
        <p:spPr bwMode="auto">
          <a:xfrm>
            <a:off x="2343150" y="2564606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</a:t>
            </a:r>
            <a:r>
              <a:rPr lang="en-US" sz="1000" b="1">
                <a:solidFill>
                  <a:srgbClr val="0055FF"/>
                </a:solidFill>
              </a:rPr>
              <a:t>ISP Router</a:t>
            </a:r>
            <a:r>
              <a:rPr lang="en-US" sz="1050">
                <a:solidFill>
                  <a:srgbClr val="333333"/>
                </a:solidFill>
              </a:rPr>
              <a:t> (Internet connectivity)</a:t>
            </a:r>
            <a:endParaRPr lang="en-US" sz="1050"/>
          </a:p>
        </p:txBody>
      </p:sp>
      <p:sp>
        <p:nvSpPr>
          <p:cNvPr id="2104285036" name="Text 9"/>
          <p:cNvSpPr/>
          <p:nvPr/>
        </p:nvSpPr>
        <p:spPr bwMode="auto">
          <a:xfrm>
            <a:off x="2343150" y="2864644"/>
            <a:ext cx="6400800" cy="369689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00" b="1">
                <a:solidFill>
                  <a:srgbClr val="1A1A1A"/>
                </a:solidFill>
              </a:rPr>
              <a:t>Connections</a:t>
            </a:r>
            <a:endParaRPr lang="en-US" sz="1200"/>
          </a:p>
        </p:txBody>
      </p:sp>
      <p:sp>
        <p:nvSpPr>
          <p:cNvPr id="2535087" name="Text 10"/>
          <p:cNvSpPr/>
          <p:nvPr/>
        </p:nvSpPr>
        <p:spPr bwMode="auto">
          <a:xfrm>
            <a:off x="2343150" y="3234333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PCs → Switch (Access ports)</a:t>
            </a:r>
            <a:endParaRPr lang="en-US" sz="1050"/>
          </a:p>
        </p:txBody>
      </p:sp>
      <p:sp>
        <p:nvSpPr>
          <p:cNvPr id="226296784" name="Text 11"/>
          <p:cNvSpPr/>
          <p:nvPr/>
        </p:nvSpPr>
        <p:spPr bwMode="auto">
          <a:xfrm>
            <a:off x="2343150" y="3534370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Switch → Main Router (Trunk link)</a:t>
            </a:r>
            <a:endParaRPr lang="en-US" sz="1050"/>
          </a:p>
        </p:txBody>
      </p:sp>
      <p:sp>
        <p:nvSpPr>
          <p:cNvPr id="1869216427" name="Text 12"/>
          <p:cNvSpPr/>
          <p:nvPr/>
        </p:nvSpPr>
        <p:spPr bwMode="auto">
          <a:xfrm>
            <a:off x="2343150" y="3834408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Main Router → ISP Router (WAN link)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657060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79292561" name="Shape 0"/>
          <p:cNvSpPr/>
          <p:nvPr/>
        </p:nvSpPr>
        <p:spPr bwMode="auto">
          <a:xfrm>
            <a:off x="0" y="0"/>
            <a:ext cx="1943100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24970773" name="Text 1"/>
          <p:cNvSpPr/>
          <p:nvPr/>
        </p:nvSpPr>
        <p:spPr bwMode="auto">
          <a:xfrm>
            <a:off x="342900" y="1188709"/>
            <a:ext cx="16002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  <a:defRPr/>
            </a:pPr>
            <a:r>
              <a:rPr lang="en-US" sz="4150" b="1">
                <a:solidFill>
                  <a:srgbClr val="F2F2F2"/>
                </a:solidFill>
              </a:rPr>
              <a:t>02</a:t>
            </a:r>
            <a:endParaRPr lang="en-US" sz="4150"/>
          </a:p>
        </p:txBody>
      </p:sp>
      <p:sp>
        <p:nvSpPr>
          <p:cNvPr id="940216963" name="Text 2"/>
          <p:cNvSpPr/>
          <p:nvPr/>
        </p:nvSpPr>
        <p:spPr bwMode="auto">
          <a:xfrm>
            <a:off x="342900" y="2234543"/>
            <a:ext cx="1600200" cy="37683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50" spc="2">
                <a:solidFill>
                  <a:srgbClr val="F2F2F2"/>
                </a:solidFill>
              </a:rPr>
              <a:t>Phase Two</a:t>
            </a:r>
            <a:endParaRPr lang="en-US" sz="1250"/>
          </a:p>
        </p:txBody>
      </p:sp>
      <p:sp>
        <p:nvSpPr>
          <p:cNvPr id="1285095598" name="Text 3"/>
          <p:cNvSpPr/>
          <p:nvPr/>
        </p:nvSpPr>
        <p:spPr bwMode="auto">
          <a:xfrm>
            <a:off x="2343150" y="771525"/>
            <a:ext cx="64008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450" b="1">
                <a:solidFill>
                  <a:srgbClr val="1A1A1A"/>
                </a:solidFill>
              </a:rPr>
              <a:t>Switch Configuration</a:t>
            </a:r>
            <a:endParaRPr lang="en-US" sz="2450"/>
          </a:p>
        </p:txBody>
      </p:sp>
      <p:sp>
        <p:nvSpPr>
          <p:cNvPr id="431302977" name="Text 4"/>
          <p:cNvSpPr/>
          <p:nvPr/>
        </p:nvSpPr>
        <p:spPr bwMode="auto">
          <a:xfrm>
            <a:off x="2343150" y="1294805"/>
            <a:ext cx="6400800" cy="369689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00" b="1">
                <a:solidFill>
                  <a:srgbClr val="1A1A1A"/>
                </a:solidFill>
              </a:rPr>
              <a:t>VLANs Created</a:t>
            </a:r>
            <a:endParaRPr lang="en-US" sz="1200"/>
          </a:p>
        </p:txBody>
      </p:sp>
      <p:sp>
        <p:nvSpPr>
          <p:cNvPr id="1349006647" name="Text 5"/>
          <p:cNvSpPr/>
          <p:nvPr/>
        </p:nvSpPr>
        <p:spPr bwMode="auto">
          <a:xfrm>
            <a:off x="2343150" y="1664494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</a:t>
            </a:r>
            <a:r>
              <a:rPr lang="en-US" sz="1000" b="1">
                <a:solidFill>
                  <a:srgbClr val="FF6B35"/>
                </a:solidFill>
              </a:rPr>
              <a:t>VLAN 10</a:t>
            </a:r>
            <a:r>
              <a:rPr lang="en-US" sz="1050">
                <a:solidFill>
                  <a:srgbClr val="333333"/>
                </a:solidFill>
              </a:rPr>
              <a:t> — ADMIN (6 PCs)</a:t>
            </a:r>
            <a:endParaRPr lang="en-US" sz="1050"/>
          </a:p>
        </p:txBody>
      </p:sp>
      <p:sp>
        <p:nvSpPr>
          <p:cNvPr id="533911436" name="Text 6"/>
          <p:cNvSpPr/>
          <p:nvPr/>
        </p:nvSpPr>
        <p:spPr bwMode="auto">
          <a:xfrm>
            <a:off x="2343150" y="1964531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</a:t>
            </a:r>
            <a:r>
              <a:rPr lang="en-US" sz="1000" b="1">
                <a:solidFill>
                  <a:srgbClr val="FF6B35"/>
                </a:solidFill>
              </a:rPr>
              <a:t>VLAN 20</a:t>
            </a:r>
            <a:r>
              <a:rPr lang="en-US" sz="1050">
                <a:solidFill>
                  <a:srgbClr val="333333"/>
                </a:solidFill>
              </a:rPr>
              <a:t> — IT (8 PCs)</a:t>
            </a:r>
            <a:endParaRPr lang="en-US" sz="1050"/>
          </a:p>
        </p:txBody>
      </p:sp>
      <p:sp>
        <p:nvSpPr>
          <p:cNvPr id="1218422763" name="Text 7"/>
          <p:cNvSpPr/>
          <p:nvPr/>
        </p:nvSpPr>
        <p:spPr bwMode="auto">
          <a:xfrm>
            <a:off x="2343150" y="2264569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</a:t>
            </a:r>
            <a:r>
              <a:rPr lang="en-US" sz="1000" b="1">
                <a:solidFill>
                  <a:srgbClr val="FF6B35"/>
                </a:solidFill>
              </a:rPr>
              <a:t>VLAN 30</a:t>
            </a:r>
            <a:r>
              <a:rPr lang="en-US" sz="1050">
                <a:solidFill>
                  <a:srgbClr val="333333"/>
                </a:solidFill>
              </a:rPr>
              <a:t> — HR (6 PCs)</a:t>
            </a:r>
            <a:endParaRPr lang="en-US" sz="1050"/>
          </a:p>
        </p:txBody>
      </p:sp>
      <p:sp>
        <p:nvSpPr>
          <p:cNvPr id="1802468190" name="Text 8"/>
          <p:cNvSpPr/>
          <p:nvPr/>
        </p:nvSpPr>
        <p:spPr bwMode="auto">
          <a:xfrm>
            <a:off x="2343150" y="2564606"/>
            <a:ext cx="6400800" cy="369689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00" b="1">
                <a:solidFill>
                  <a:srgbClr val="1A1A1A"/>
                </a:solidFill>
              </a:rPr>
              <a:t>Port Assignments</a:t>
            </a:r>
            <a:endParaRPr lang="en-US" sz="1200"/>
          </a:p>
        </p:txBody>
      </p:sp>
      <p:sp>
        <p:nvSpPr>
          <p:cNvPr id="1102230887" name="Text 9"/>
          <p:cNvSpPr/>
          <p:nvPr/>
        </p:nvSpPr>
        <p:spPr bwMode="auto">
          <a:xfrm>
            <a:off x="2343150" y="2934295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Ports fa0/2–fa0/7 → VLAN 10 (Access mode)</a:t>
            </a:r>
            <a:endParaRPr lang="en-US" sz="1050"/>
          </a:p>
        </p:txBody>
      </p:sp>
      <p:sp>
        <p:nvSpPr>
          <p:cNvPr id="1068736154" name="Text 10"/>
          <p:cNvSpPr/>
          <p:nvPr/>
        </p:nvSpPr>
        <p:spPr bwMode="auto">
          <a:xfrm>
            <a:off x="2343150" y="3234333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Ports fa0/8–fa0/15 → VLAN 20 (Access mode)</a:t>
            </a:r>
            <a:endParaRPr lang="en-US" sz="1050"/>
          </a:p>
        </p:txBody>
      </p:sp>
      <p:sp>
        <p:nvSpPr>
          <p:cNvPr id="856873378" name="Text 11"/>
          <p:cNvSpPr/>
          <p:nvPr/>
        </p:nvSpPr>
        <p:spPr bwMode="auto">
          <a:xfrm>
            <a:off x="2343150" y="3534370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Ports fa0/16–fa0/21 → VLAN 30 (Access mode)</a:t>
            </a:r>
            <a:endParaRPr lang="en-US" sz="1050"/>
          </a:p>
        </p:txBody>
      </p:sp>
      <p:sp>
        <p:nvSpPr>
          <p:cNvPr id="346831024" name="Text 12"/>
          <p:cNvSpPr/>
          <p:nvPr/>
        </p:nvSpPr>
        <p:spPr bwMode="auto">
          <a:xfrm>
            <a:off x="2343150" y="3834408"/>
            <a:ext cx="6400800" cy="369689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00" b="1">
                <a:solidFill>
                  <a:srgbClr val="1A1A1A"/>
                </a:solidFill>
              </a:rPr>
              <a:t>Trunk Configuration</a:t>
            </a:r>
            <a:endParaRPr lang="en-US" sz="1200"/>
          </a:p>
        </p:txBody>
      </p:sp>
      <p:sp>
        <p:nvSpPr>
          <p:cNvPr id="1639263388" name="Text 13"/>
          <p:cNvSpPr/>
          <p:nvPr/>
        </p:nvSpPr>
        <p:spPr bwMode="auto">
          <a:xfrm>
            <a:off x="2343150" y="4204097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Port fa0/1 → Trunk mode (connects to Main Router)</a:t>
            </a:r>
            <a:endParaRPr lang="en-US" sz="1050"/>
          </a:p>
        </p:txBody>
      </p:sp>
      <p:sp>
        <p:nvSpPr>
          <p:cNvPr id="490515721" name="Text 14"/>
          <p:cNvSpPr/>
          <p:nvPr/>
        </p:nvSpPr>
        <p:spPr bwMode="auto">
          <a:xfrm>
            <a:off x="2343150" y="4504134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Carries all VLAN traffic (802.1Q tagging)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054124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91466610" name="Shape 0"/>
          <p:cNvSpPr/>
          <p:nvPr/>
        </p:nvSpPr>
        <p:spPr bwMode="auto">
          <a:xfrm>
            <a:off x="0" y="0"/>
            <a:ext cx="1943100" cy="514350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145919385" name="Text 1"/>
          <p:cNvSpPr/>
          <p:nvPr/>
        </p:nvSpPr>
        <p:spPr bwMode="auto">
          <a:xfrm>
            <a:off x="342900" y="1188709"/>
            <a:ext cx="16002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  <a:defRPr/>
            </a:pPr>
            <a:r>
              <a:rPr lang="en-US" sz="4150" b="1">
                <a:solidFill>
                  <a:srgbClr val="F2F2F2"/>
                </a:solidFill>
              </a:rPr>
              <a:t>03</a:t>
            </a:r>
            <a:endParaRPr lang="en-US" sz="4150"/>
          </a:p>
        </p:txBody>
      </p:sp>
      <p:sp>
        <p:nvSpPr>
          <p:cNvPr id="1325512301" name="Text 2"/>
          <p:cNvSpPr/>
          <p:nvPr/>
        </p:nvSpPr>
        <p:spPr bwMode="auto">
          <a:xfrm>
            <a:off x="342900" y="2234543"/>
            <a:ext cx="1600200" cy="37683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50" spc="2">
                <a:solidFill>
                  <a:srgbClr val="F2F2F2"/>
                </a:solidFill>
              </a:rPr>
              <a:t>Phase Three</a:t>
            </a:r>
            <a:endParaRPr lang="en-US" sz="1250"/>
          </a:p>
        </p:txBody>
      </p:sp>
      <p:sp>
        <p:nvSpPr>
          <p:cNvPr id="1829492664" name="Text 3"/>
          <p:cNvSpPr/>
          <p:nvPr/>
        </p:nvSpPr>
        <p:spPr bwMode="auto">
          <a:xfrm>
            <a:off x="2343150" y="771525"/>
            <a:ext cx="64008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450" b="1">
                <a:solidFill>
                  <a:srgbClr val="1A1A1A"/>
                </a:solidFill>
              </a:rPr>
              <a:t>Router-on-a-Stick</a:t>
            </a:r>
            <a:endParaRPr lang="en-US" sz="2450"/>
          </a:p>
        </p:txBody>
      </p:sp>
      <p:sp>
        <p:nvSpPr>
          <p:cNvPr id="1427732773" name="Text 4"/>
          <p:cNvSpPr/>
          <p:nvPr/>
        </p:nvSpPr>
        <p:spPr bwMode="auto">
          <a:xfrm>
            <a:off x="2343150" y="1294805"/>
            <a:ext cx="6400800" cy="369689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00" b="1">
                <a:solidFill>
                  <a:srgbClr val="1A1A1A"/>
                </a:solidFill>
              </a:rPr>
              <a:t>Physical Interface</a:t>
            </a:r>
            <a:endParaRPr lang="en-US" sz="1200"/>
          </a:p>
        </p:txBody>
      </p:sp>
      <p:sp>
        <p:nvSpPr>
          <p:cNvPr id="301870536" name="Text 5"/>
          <p:cNvSpPr/>
          <p:nvPr/>
        </p:nvSpPr>
        <p:spPr bwMode="auto">
          <a:xfrm>
            <a:off x="2343150" y="1664494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</a:t>
            </a:r>
            <a:r>
              <a:rPr lang="en-US" sz="1000" b="1">
                <a:solidFill>
                  <a:srgbClr val="0055FF"/>
                </a:solidFill>
              </a:rPr>
              <a:t>FastEthernet1/0</a:t>
            </a:r>
            <a:r>
              <a:rPr lang="en-US" sz="1050">
                <a:solidFill>
                  <a:srgbClr val="333333"/>
                </a:solidFill>
              </a:rPr>
              <a:t> — Enable (no shutdown)</a:t>
            </a:r>
            <a:endParaRPr lang="en-US" sz="1050"/>
          </a:p>
        </p:txBody>
      </p:sp>
      <p:sp>
        <p:nvSpPr>
          <p:cNvPr id="1848780926" name="Text 6"/>
          <p:cNvSpPr/>
          <p:nvPr/>
        </p:nvSpPr>
        <p:spPr bwMode="auto">
          <a:xfrm>
            <a:off x="2343150" y="1964531"/>
            <a:ext cx="6400800" cy="369689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00" b="1">
                <a:solidFill>
                  <a:srgbClr val="1A1A1A"/>
                </a:solidFill>
              </a:rPr>
              <a:t>Sub-interfaces (One Per VLAN)</a:t>
            </a:r>
            <a:endParaRPr lang="en-US" sz="1200"/>
          </a:p>
        </p:txBody>
      </p:sp>
      <p:sp>
        <p:nvSpPr>
          <p:cNvPr id="1944148608" name="Text 7"/>
          <p:cNvSpPr/>
          <p:nvPr/>
        </p:nvSpPr>
        <p:spPr bwMode="auto">
          <a:xfrm>
            <a:off x="2343150" y="2334220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</a:t>
            </a:r>
            <a:r>
              <a:rPr lang="en-US" sz="1000" b="1">
                <a:solidFill>
                  <a:srgbClr val="0055FF"/>
                </a:solidFill>
              </a:rPr>
              <a:t>FastEthernet1/0.10</a:t>
            </a:r>
            <a:r>
              <a:rPr lang="en-US" sz="1050">
                <a:solidFill>
                  <a:srgbClr val="333333"/>
                </a:solidFill>
              </a:rPr>
              <a:t> — VLAN 10 (802.1Q tagging)</a:t>
            </a:r>
            <a:endParaRPr lang="en-US" sz="1050"/>
          </a:p>
        </p:txBody>
      </p:sp>
      <p:sp>
        <p:nvSpPr>
          <p:cNvPr id="1348747562" name="Text 8"/>
          <p:cNvSpPr/>
          <p:nvPr/>
        </p:nvSpPr>
        <p:spPr bwMode="auto">
          <a:xfrm>
            <a:off x="2343150" y="2634258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</a:t>
            </a:r>
            <a:r>
              <a:rPr lang="en-US" sz="1000" b="1">
                <a:solidFill>
                  <a:srgbClr val="0055FF"/>
                </a:solidFill>
              </a:rPr>
              <a:t>FastEthernet1/0.20</a:t>
            </a:r>
            <a:r>
              <a:rPr lang="en-US" sz="1050">
                <a:solidFill>
                  <a:srgbClr val="333333"/>
                </a:solidFill>
              </a:rPr>
              <a:t> — VLAN 20 (802.1Q tagging)</a:t>
            </a:r>
            <a:endParaRPr lang="en-US" sz="1050"/>
          </a:p>
        </p:txBody>
      </p:sp>
      <p:sp>
        <p:nvSpPr>
          <p:cNvPr id="831511936" name="Text 9"/>
          <p:cNvSpPr/>
          <p:nvPr/>
        </p:nvSpPr>
        <p:spPr bwMode="auto">
          <a:xfrm>
            <a:off x="2343150" y="2934295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</a:t>
            </a:r>
            <a:r>
              <a:rPr lang="en-US" sz="1000" b="1">
                <a:solidFill>
                  <a:srgbClr val="0055FF"/>
                </a:solidFill>
              </a:rPr>
              <a:t>FastEthernet1/0.30</a:t>
            </a:r>
            <a:r>
              <a:rPr lang="en-US" sz="1050">
                <a:solidFill>
                  <a:srgbClr val="333333"/>
                </a:solidFill>
              </a:rPr>
              <a:t> — VLAN 30 (802.1Q tagging)</a:t>
            </a:r>
            <a:endParaRPr lang="en-US" sz="1050"/>
          </a:p>
        </p:txBody>
      </p:sp>
      <p:sp>
        <p:nvSpPr>
          <p:cNvPr id="1478935199" name="Text 10"/>
          <p:cNvSpPr/>
          <p:nvPr/>
        </p:nvSpPr>
        <p:spPr bwMode="auto">
          <a:xfrm>
            <a:off x="2343150" y="3234333"/>
            <a:ext cx="6400800" cy="369689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00" b="1">
                <a:solidFill>
                  <a:srgbClr val="1A1A1A"/>
                </a:solidFill>
              </a:rPr>
              <a:t>Gateway IPs</a:t>
            </a:r>
            <a:endParaRPr lang="en-US" sz="1200"/>
          </a:p>
        </p:txBody>
      </p:sp>
      <p:sp>
        <p:nvSpPr>
          <p:cNvPr id="659978011" name="Text 11"/>
          <p:cNvSpPr/>
          <p:nvPr/>
        </p:nvSpPr>
        <p:spPr bwMode="auto">
          <a:xfrm>
            <a:off x="2343150" y="3604022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VLAN 10 Gateway: </a:t>
            </a:r>
            <a:r>
              <a:rPr lang="en-US" sz="1000" b="1">
                <a:solidFill>
                  <a:srgbClr val="0055FF"/>
                </a:solidFill>
              </a:rPr>
              <a:t>192.168.10.1</a:t>
            </a:r>
            <a:r>
              <a:rPr lang="en-US" sz="1050">
                <a:solidFill>
                  <a:srgbClr val="333333"/>
                </a:solidFill>
              </a:rPr>
              <a:t> /24</a:t>
            </a:r>
            <a:endParaRPr lang="en-US" sz="1050"/>
          </a:p>
        </p:txBody>
      </p:sp>
      <p:sp>
        <p:nvSpPr>
          <p:cNvPr id="1022478690" name="Text 12"/>
          <p:cNvSpPr/>
          <p:nvPr/>
        </p:nvSpPr>
        <p:spPr bwMode="auto">
          <a:xfrm>
            <a:off x="2343150" y="3904059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VLAN 20 Gateway: </a:t>
            </a:r>
            <a:r>
              <a:rPr lang="en-US" sz="1000" b="1">
                <a:solidFill>
                  <a:srgbClr val="0055FF"/>
                </a:solidFill>
              </a:rPr>
              <a:t>192.168.20.1</a:t>
            </a:r>
            <a:r>
              <a:rPr lang="en-US" sz="1050">
                <a:solidFill>
                  <a:srgbClr val="333333"/>
                </a:solidFill>
              </a:rPr>
              <a:t> /24</a:t>
            </a:r>
            <a:endParaRPr lang="en-US" sz="1050"/>
          </a:p>
        </p:txBody>
      </p:sp>
      <p:sp>
        <p:nvSpPr>
          <p:cNvPr id="1699291715" name="Text 13"/>
          <p:cNvSpPr/>
          <p:nvPr/>
        </p:nvSpPr>
        <p:spPr bwMode="auto">
          <a:xfrm>
            <a:off x="2343150" y="4204097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VLAN 30 Gateway: </a:t>
            </a:r>
            <a:r>
              <a:rPr lang="en-US" sz="1000" b="1">
                <a:solidFill>
                  <a:srgbClr val="0055FF"/>
                </a:solidFill>
              </a:rPr>
              <a:t>192.168.30.1</a:t>
            </a:r>
            <a:r>
              <a:rPr lang="en-US" sz="1050">
                <a:solidFill>
                  <a:srgbClr val="333333"/>
                </a:solidFill>
              </a:rPr>
              <a:t> /24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677409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64361623" name="Shape 0"/>
          <p:cNvSpPr/>
          <p:nvPr/>
        </p:nvSpPr>
        <p:spPr bwMode="auto">
          <a:xfrm>
            <a:off x="0" y="0"/>
            <a:ext cx="1943100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57501904" name="Text 1"/>
          <p:cNvSpPr/>
          <p:nvPr/>
        </p:nvSpPr>
        <p:spPr bwMode="auto">
          <a:xfrm>
            <a:off x="342900" y="1188709"/>
            <a:ext cx="16002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  <a:defRPr/>
            </a:pPr>
            <a:r>
              <a:rPr lang="en-US" sz="4150" b="1">
                <a:solidFill>
                  <a:srgbClr val="F2F2F2"/>
                </a:solidFill>
              </a:rPr>
              <a:t>04</a:t>
            </a:r>
            <a:endParaRPr lang="en-US" sz="4150"/>
          </a:p>
        </p:txBody>
      </p:sp>
      <p:sp>
        <p:nvSpPr>
          <p:cNvPr id="1851227391" name="Text 2"/>
          <p:cNvSpPr/>
          <p:nvPr/>
        </p:nvSpPr>
        <p:spPr bwMode="auto">
          <a:xfrm>
            <a:off x="342900" y="2234543"/>
            <a:ext cx="1600200" cy="37683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50" spc="2">
                <a:solidFill>
                  <a:srgbClr val="F2F2F2"/>
                </a:solidFill>
              </a:rPr>
              <a:t>Phase Four</a:t>
            </a:r>
            <a:endParaRPr lang="en-US" sz="1250"/>
          </a:p>
        </p:txBody>
      </p:sp>
      <p:sp>
        <p:nvSpPr>
          <p:cNvPr id="925126625" name="Text 3"/>
          <p:cNvSpPr/>
          <p:nvPr/>
        </p:nvSpPr>
        <p:spPr bwMode="auto">
          <a:xfrm>
            <a:off x="2343150" y="771525"/>
            <a:ext cx="64008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450" b="1">
                <a:solidFill>
                  <a:srgbClr val="1A1A1A"/>
                </a:solidFill>
              </a:rPr>
              <a:t>DHCP Configuration</a:t>
            </a:r>
            <a:endParaRPr lang="en-US" sz="2450"/>
          </a:p>
        </p:txBody>
      </p:sp>
      <p:sp>
        <p:nvSpPr>
          <p:cNvPr id="702527752" name="Text 4"/>
          <p:cNvSpPr/>
          <p:nvPr/>
        </p:nvSpPr>
        <p:spPr bwMode="auto">
          <a:xfrm>
            <a:off x="2343150" y="1294805"/>
            <a:ext cx="6400800" cy="369689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00" b="1">
                <a:solidFill>
                  <a:srgbClr val="1A1A1A"/>
                </a:solidFill>
              </a:rPr>
              <a:t>Excluded Addresses</a:t>
            </a:r>
            <a:endParaRPr lang="en-US" sz="1200"/>
          </a:p>
        </p:txBody>
      </p:sp>
      <p:sp>
        <p:nvSpPr>
          <p:cNvPr id="1238582253" name="Text 5"/>
          <p:cNvSpPr/>
          <p:nvPr/>
        </p:nvSpPr>
        <p:spPr bwMode="auto">
          <a:xfrm>
            <a:off x="2343150" y="1664494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</a:t>
            </a:r>
            <a:r>
              <a:rPr lang="en-US" sz="1000" b="1">
                <a:solidFill>
                  <a:srgbClr val="FF6B35"/>
                </a:solidFill>
              </a:rPr>
              <a:t>192.168.10.1</a:t>
            </a:r>
            <a:r>
              <a:rPr lang="en-US" sz="1050">
                <a:solidFill>
                  <a:srgbClr val="333333"/>
                </a:solidFill>
              </a:rPr>
              <a:t> (VLAN 10 gateway)</a:t>
            </a:r>
            <a:endParaRPr lang="en-US" sz="1050"/>
          </a:p>
        </p:txBody>
      </p:sp>
      <p:sp>
        <p:nvSpPr>
          <p:cNvPr id="1593599880" name="Text 6"/>
          <p:cNvSpPr/>
          <p:nvPr/>
        </p:nvSpPr>
        <p:spPr bwMode="auto">
          <a:xfrm>
            <a:off x="2343150" y="1964531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</a:t>
            </a:r>
            <a:r>
              <a:rPr lang="en-US" sz="1000" b="1">
                <a:solidFill>
                  <a:srgbClr val="FF6B35"/>
                </a:solidFill>
              </a:rPr>
              <a:t>192.168.20.1</a:t>
            </a:r>
            <a:r>
              <a:rPr lang="en-US" sz="1050">
                <a:solidFill>
                  <a:srgbClr val="333333"/>
                </a:solidFill>
              </a:rPr>
              <a:t> (VLAN 20 gateway)</a:t>
            </a:r>
            <a:endParaRPr lang="en-US" sz="1050"/>
          </a:p>
        </p:txBody>
      </p:sp>
      <p:sp>
        <p:nvSpPr>
          <p:cNvPr id="877295384" name="Text 7"/>
          <p:cNvSpPr/>
          <p:nvPr/>
        </p:nvSpPr>
        <p:spPr bwMode="auto">
          <a:xfrm>
            <a:off x="2343150" y="2264569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</a:t>
            </a:r>
            <a:r>
              <a:rPr lang="en-US" sz="1000" b="1">
                <a:solidFill>
                  <a:srgbClr val="FF6B35"/>
                </a:solidFill>
              </a:rPr>
              <a:t>192.168.30.1</a:t>
            </a:r>
            <a:r>
              <a:rPr lang="en-US" sz="1050">
                <a:solidFill>
                  <a:srgbClr val="333333"/>
                </a:solidFill>
              </a:rPr>
              <a:t> (VLAN 30 gateway)</a:t>
            </a:r>
            <a:endParaRPr lang="en-US" sz="1050"/>
          </a:p>
        </p:txBody>
      </p:sp>
      <p:sp>
        <p:nvSpPr>
          <p:cNvPr id="308270143" name="Text 8"/>
          <p:cNvSpPr/>
          <p:nvPr/>
        </p:nvSpPr>
        <p:spPr bwMode="auto">
          <a:xfrm>
            <a:off x="2343150" y="2564606"/>
            <a:ext cx="6400800" cy="369689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00" b="1">
                <a:solidFill>
                  <a:srgbClr val="1A1A1A"/>
                </a:solidFill>
              </a:rPr>
              <a:t>DHCP Pools</a:t>
            </a:r>
            <a:endParaRPr lang="en-US" sz="1200"/>
          </a:p>
        </p:txBody>
      </p:sp>
      <p:sp>
        <p:nvSpPr>
          <p:cNvPr id="67039637" name="Text 9"/>
          <p:cNvSpPr/>
          <p:nvPr/>
        </p:nvSpPr>
        <p:spPr bwMode="auto">
          <a:xfrm>
            <a:off x="2343150" y="2934295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</a:t>
            </a:r>
            <a:r>
              <a:rPr lang="en-US" sz="1000" b="1">
                <a:solidFill>
                  <a:srgbClr val="FF6B35"/>
                </a:solidFill>
              </a:rPr>
              <a:t>VLAN10 Pool</a:t>
            </a:r>
            <a:r>
              <a:rPr lang="en-US" sz="1050">
                <a:solidFill>
                  <a:srgbClr val="333333"/>
                </a:solidFill>
              </a:rPr>
              <a:t> — 192.168.10.0/24 → Gateway 192.168.10.1</a:t>
            </a:r>
            <a:endParaRPr lang="en-US" sz="1050"/>
          </a:p>
        </p:txBody>
      </p:sp>
      <p:sp>
        <p:nvSpPr>
          <p:cNvPr id="1999931839" name="Text 10"/>
          <p:cNvSpPr/>
          <p:nvPr/>
        </p:nvSpPr>
        <p:spPr bwMode="auto">
          <a:xfrm>
            <a:off x="2343150" y="3234333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</a:t>
            </a:r>
            <a:r>
              <a:rPr lang="en-US" sz="1000" b="1">
                <a:solidFill>
                  <a:srgbClr val="FF6B35"/>
                </a:solidFill>
              </a:rPr>
              <a:t>VLAN20 Pool</a:t>
            </a:r>
            <a:r>
              <a:rPr lang="en-US" sz="1050">
                <a:solidFill>
                  <a:srgbClr val="333333"/>
                </a:solidFill>
              </a:rPr>
              <a:t> — 192.168.20.0/24 → Gateway 192.168.20.1</a:t>
            </a:r>
            <a:endParaRPr lang="en-US" sz="1050"/>
          </a:p>
        </p:txBody>
      </p:sp>
      <p:sp>
        <p:nvSpPr>
          <p:cNvPr id="440425842" name="Text 11"/>
          <p:cNvSpPr/>
          <p:nvPr/>
        </p:nvSpPr>
        <p:spPr bwMode="auto">
          <a:xfrm>
            <a:off x="2343150" y="3534370"/>
            <a:ext cx="6400800" cy="30003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• </a:t>
            </a:r>
            <a:r>
              <a:rPr lang="en-US" sz="1000" b="1">
                <a:solidFill>
                  <a:srgbClr val="FF6B35"/>
                </a:solidFill>
              </a:rPr>
              <a:t>VLAN30 Pool</a:t>
            </a:r>
            <a:r>
              <a:rPr lang="en-US" sz="1050">
                <a:solidFill>
                  <a:srgbClr val="333333"/>
                </a:solidFill>
              </a:rPr>
              <a:t> — 192.168.30.0/24 → Gateway 192.168.30.1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532950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07262209" name="Shape 0"/>
          <p:cNvSpPr/>
          <p:nvPr/>
        </p:nvSpPr>
        <p:spPr bwMode="auto">
          <a:xfrm>
            <a:off x="0" y="0"/>
            <a:ext cx="1943100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9089501" name="Text 1"/>
          <p:cNvSpPr/>
          <p:nvPr/>
        </p:nvSpPr>
        <p:spPr bwMode="auto">
          <a:xfrm>
            <a:off x="428625" y="1188709"/>
            <a:ext cx="151447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  <a:defRPr/>
            </a:pPr>
            <a:r>
              <a:rPr lang="en-US" sz="4150" b="1">
                <a:solidFill>
                  <a:srgbClr val="F2F2F2"/>
                </a:solidFill>
              </a:rPr>
              <a:t>05</a:t>
            </a:r>
            <a:endParaRPr lang="en-US" sz="4150"/>
          </a:p>
        </p:txBody>
      </p:sp>
      <p:sp>
        <p:nvSpPr>
          <p:cNvPr id="105677477" name="Text 2"/>
          <p:cNvSpPr/>
          <p:nvPr/>
        </p:nvSpPr>
        <p:spPr bwMode="auto">
          <a:xfrm>
            <a:off x="428625" y="2234543"/>
            <a:ext cx="1514475" cy="37683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50" spc="2">
                <a:solidFill>
                  <a:srgbClr val="F2F2F2"/>
                </a:solidFill>
              </a:rPr>
              <a:t>Phase Five</a:t>
            </a:r>
            <a:endParaRPr lang="en-US" sz="1250"/>
          </a:p>
        </p:txBody>
      </p:sp>
      <p:sp>
        <p:nvSpPr>
          <p:cNvPr id="2043760292" name="Text 3"/>
          <p:cNvSpPr/>
          <p:nvPr/>
        </p:nvSpPr>
        <p:spPr bwMode="auto">
          <a:xfrm>
            <a:off x="2514600" y="1057275"/>
            <a:ext cx="60579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450" b="1">
                <a:solidFill>
                  <a:srgbClr val="1A1A1A"/>
                </a:solidFill>
              </a:rPr>
              <a:t>Local Testing</a:t>
            </a:r>
            <a:endParaRPr lang="en-US" sz="2450"/>
          </a:p>
        </p:txBody>
      </p:sp>
      <p:sp>
        <p:nvSpPr>
          <p:cNvPr id="670620501" name="Text 4"/>
          <p:cNvSpPr/>
          <p:nvPr/>
        </p:nvSpPr>
        <p:spPr bwMode="auto">
          <a:xfrm>
            <a:off x="2514600" y="1666280"/>
            <a:ext cx="6057900" cy="1543050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Each PC is configured to use </a:t>
            </a:r>
            <a:r>
              <a:rPr lang="en-US" sz="1000" b="1">
                <a:solidFill>
                  <a:srgbClr val="FF6B35"/>
                </a:solidFill>
              </a:rPr>
              <a:t>DHCP</a:t>
            </a:r>
            <a:r>
              <a:rPr lang="en-US" sz="1050">
                <a:solidFill>
                  <a:srgbClr val="333333"/>
                </a:solidFill>
              </a:rPr>
              <a:t>, and upon connection, it automatically receives an IP </a:t>
            </a:r>
            <a:r>
              <a:rPr lang="en-US" sz="1050">
                <a:solidFill>
                  <a:srgbClr val="333333"/>
                </a:solidFill>
              </a:rPr>
              <a:t>address from the appropriate VLAN pool. Testing includes verifying that PCs within the </a:t>
            </a:r>
            <a:r>
              <a:rPr lang="en-US" sz="1050">
                <a:solidFill>
                  <a:srgbClr val="333333"/>
                </a:solidFill>
              </a:rPr>
              <a:t>same VLAN can ping each other and that PCs in different VLANs can ping the router's </a:t>
            </a:r>
            <a:r>
              <a:rPr lang="en-US" sz="1050">
                <a:solidFill>
                  <a:srgbClr val="333333"/>
                </a:solidFill>
              </a:rPr>
              <a:t>gateway IP for their VLAN. This phase confirms that VLAN segmentation and DHCP are </a:t>
            </a:r>
            <a:r>
              <a:rPr lang="en-US" sz="1050">
                <a:solidFill>
                  <a:srgbClr val="333333"/>
                </a:solidFill>
              </a:rPr>
              <a:t>working correctly. Successful pings indicate that the router is properly routing traffic </a:t>
            </a:r>
            <a:r>
              <a:rPr lang="en-US" sz="1050">
                <a:solidFill>
                  <a:srgbClr val="333333"/>
                </a:solidFill>
              </a:rPr>
              <a:t>between VLANs and that all devices have valid IP addresses.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946077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54218901" name="Shape 0"/>
          <p:cNvSpPr/>
          <p:nvPr/>
        </p:nvSpPr>
        <p:spPr bwMode="auto">
          <a:xfrm>
            <a:off x="0" y="0"/>
            <a:ext cx="1943100" cy="514350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530830984" name="Text 1"/>
          <p:cNvSpPr/>
          <p:nvPr/>
        </p:nvSpPr>
        <p:spPr bwMode="auto">
          <a:xfrm>
            <a:off x="428625" y="1188709"/>
            <a:ext cx="151447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  <a:defRPr/>
            </a:pPr>
            <a:r>
              <a:rPr lang="en-US" sz="4150" b="1">
                <a:solidFill>
                  <a:srgbClr val="F2F2F2"/>
                </a:solidFill>
              </a:rPr>
              <a:t>06</a:t>
            </a:r>
            <a:endParaRPr lang="en-US" sz="4150"/>
          </a:p>
        </p:txBody>
      </p:sp>
      <p:sp>
        <p:nvSpPr>
          <p:cNvPr id="616379279" name="Text 2"/>
          <p:cNvSpPr/>
          <p:nvPr/>
        </p:nvSpPr>
        <p:spPr bwMode="auto">
          <a:xfrm>
            <a:off x="428625" y="2234543"/>
            <a:ext cx="1514475" cy="37683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50" spc="2">
                <a:solidFill>
                  <a:srgbClr val="F2F2F2"/>
                </a:solidFill>
              </a:rPr>
              <a:t>Phase Six</a:t>
            </a:r>
            <a:endParaRPr lang="en-US" sz="1250"/>
          </a:p>
        </p:txBody>
      </p:sp>
      <p:sp>
        <p:nvSpPr>
          <p:cNvPr id="746569124" name="Text 3"/>
          <p:cNvSpPr/>
          <p:nvPr/>
        </p:nvSpPr>
        <p:spPr bwMode="auto">
          <a:xfrm>
            <a:off x="2514600" y="1057275"/>
            <a:ext cx="60579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450" b="1">
                <a:solidFill>
                  <a:srgbClr val="1A1A1A"/>
                </a:solidFill>
              </a:rPr>
              <a:t>ISP Router Configuration</a:t>
            </a:r>
            <a:endParaRPr lang="en-US" sz="2450"/>
          </a:p>
        </p:txBody>
      </p:sp>
      <p:sp>
        <p:nvSpPr>
          <p:cNvPr id="145403973" name="Text 4"/>
          <p:cNvSpPr/>
          <p:nvPr/>
        </p:nvSpPr>
        <p:spPr bwMode="auto">
          <a:xfrm>
            <a:off x="2514600" y="1666280"/>
            <a:ext cx="6057900" cy="1543050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The ISP Router simulates the Internet Service Provider's equipment. It is configured with a </a:t>
            </a:r>
            <a:r>
              <a:rPr lang="en-US" sz="1000" b="1">
                <a:solidFill>
                  <a:srgbClr val="0055FF"/>
                </a:solidFill>
              </a:rPr>
              <a:t>WAN interface (200.1.1.1/30)</a:t>
            </a:r>
            <a:r>
              <a:rPr lang="en-US" sz="1050">
                <a:solidFill>
                  <a:srgbClr val="333333"/>
                </a:solidFill>
              </a:rPr>
              <a:t> that connects to the Main Router. A </a:t>
            </a:r>
            <a:r>
              <a:rPr lang="en-US" sz="1000" b="1">
                <a:solidFill>
                  <a:srgbClr val="0055FF"/>
                </a:solidFill>
              </a:rPr>
              <a:t>loopback interface </a:t>
            </a:r>
            <a:r>
              <a:rPr lang="en-US" sz="1000" b="1">
                <a:solidFill>
                  <a:srgbClr val="0055FF"/>
                </a:solidFill>
              </a:rPr>
              <a:t>(8.8.8.8)</a:t>
            </a:r>
            <a:r>
              <a:rPr lang="en-US" sz="1050">
                <a:solidFill>
                  <a:srgbClr val="333333"/>
                </a:solidFill>
              </a:rPr>
              <a:t> simulates the internet. A </a:t>
            </a:r>
            <a:r>
              <a:rPr lang="en-US" sz="1000" b="1">
                <a:solidFill>
                  <a:srgbClr val="0055FF"/>
                </a:solidFill>
              </a:rPr>
              <a:t>static route</a:t>
            </a:r>
            <a:r>
              <a:rPr lang="en-US" sz="1050">
                <a:solidFill>
                  <a:srgbClr val="333333"/>
                </a:solidFill>
              </a:rPr>
              <a:t> is configured on the ISP Router to route </a:t>
            </a:r>
            <a:r>
              <a:rPr lang="en-US" sz="1050">
                <a:solidFill>
                  <a:srgbClr val="333333"/>
                </a:solidFill>
              </a:rPr>
              <a:t>traffic destined for the internal network (192.168.0.0/16) back to the Main Router. This </a:t>
            </a:r>
            <a:r>
              <a:rPr lang="en-US" sz="1050">
                <a:solidFill>
                  <a:srgbClr val="333333"/>
                </a:solidFill>
              </a:rPr>
              <a:t>setup allows the office network to communicate with the simulated internet while the ISP </a:t>
            </a:r>
            <a:r>
              <a:rPr lang="en-US" sz="1050">
                <a:solidFill>
                  <a:srgbClr val="333333"/>
                </a:solidFill>
              </a:rPr>
              <a:t>Router maintains the return path for responses.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2539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41663533" name="Shape 0"/>
          <p:cNvSpPr/>
          <p:nvPr/>
        </p:nvSpPr>
        <p:spPr bwMode="auto">
          <a:xfrm>
            <a:off x="0" y="0"/>
            <a:ext cx="1943100" cy="514350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514094812" name="Text 1"/>
          <p:cNvSpPr/>
          <p:nvPr/>
        </p:nvSpPr>
        <p:spPr bwMode="auto">
          <a:xfrm>
            <a:off x="428625" y="1188709"/>
            <a:ext cx="151447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  <a:defRPr/>
            </a:pPr>
            <a:r>
              <a:rPr lang="en-US" sz="4150" b="1">
                <a:solidFill>
                  <a:srgbClr val="F2F2F2"/>
                </a:solidFill>
              </a:rPr>
              <a:t>07</a:t>
            </a:r>
            <a:endParaRPr lang="en-US" sz="4150"/>
          </a:p>
        </p:txBody>
      </p:sp>
      <p:sp>
        <p:nvSpPr>
          <p:cNvPr id="243567594" name="Text 2"/>
          <p:cNvSpPr/>
          <p:nvPr/>
        </p:nvSpPr>
        <p:spPr bwMode="auto">
          <a:xfrm>
            <a:off x="428625" y="2234543"/>
            <a:ext cx="1514475" cy="37683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50" spc="2">
                <a:solidFill>
                  <a:srgbClr val="F2F2F2"/>
                </a:solidFill>
              </a:rPr>
              <a:t>Phase Seven</a:t>
            </a:r>
            <a:endParaRPr lang="en-US" sz="1250"/>
          </a:p>
        </p:txBody>
      </p:sp>
      <p:sp>
        <p:nvSpPr>
          <p:cNvPr id="1141595154" name="Text 3"/>
          <p:cNvSpPr/>
          <p:nvPr/>
        </p:nvSpPr>
        <p:spPr bwMode="auto">
          <a:xfrm>
            <a:off x="2514600" y="1057275"/>
            <a:ext cx="60579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450" b="1">
                <a:solidFill>
                  <a:srgbClr val="1A1A1A"/>
                </a:solidFill>
              </a:rPr>
              <a:t>WAN Configuration</a:t>
            </a:r>
            <a:endParaRPr lang="en-US" sz="2450"/>
          </a:p>
        </p:txBody>
      </p:sp>
      <p:sp>
        <p:nvSpPr>
          <p:cNvPr id="1613043252" name="Text 4"/>
          <p:cNvSpPr/>
          <p:nvPr/>
        </p:nvSpPr>
        <p:spPr bwMode="auto">
          <a:xfrm>
            <a:off x="2514600" y="1666280"/>
            <a:ext cx="6057900" cy="1543050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The WAN interface on the Main Router (200.1.1.2/30) is configured to connect to the ISP </a:t>
            </a:r>
            <a:r>
              <a:rPr lang="en-US" sz="1050">
                <a:solidFill>
                  <a:srgbClr val="333333"/>
                </a:solidFill>
              </a:rPr>
              <a:t>Router. A </a:t>
            </a:r>
            <a:r>
              <a:rPr lang="en-US" sz="1000" b="1">
                <a:solidFill>
                  <a:srgbClr val="0055FF"/>
                </a:solidFill>
              </a:rPr>
              <a:t>default route (0.0.0.0/0)</a:t>
            </a:r>
            <a:r>
              <a:rPr lang="en-US" sz="1050">
                <a:solidFill>
                  <a:srgbClr val="333333"/>
                </a:solidFill>
              </a:rPr>
              <a:t> is set to point to the ISP Router's IP address, ensuring </a:t>
            </a:r>
            <a:r>
              <a:rPr lang="en-US" sz="1050">
                <a:solidFill>
                  <a:srgbClr val="333333"/>
                </a:solidFill>
              </a:rPr>
              <a:t>that any traffic destined for external networks is forwarded to the ISP. This configuration </a:t>
            </a:r>
            <a:r>
              <a:rPr lang="en-US" sz="1050">
                <a:solidFill>
                  <a:srgbClr val="333333"/>
                </a:solidFill>
              </a:rPr>
              <a:t>establishes the path for all outbound internet traffic. The Main Router now acts as the </a:t>
            </a:r>
            <a:r>
              <a:rPr lang="en-US" sz="1050">
                <a:solidFill>
                  <a:srgbClr val="333333"/>
                </a:solidFill>
              </a:rPr>
              <a:t>gateway between the internal office network and the external internet, managing all </a:t>
            </a:r>
            <a:r>
              <a:rPr lang="en-US" sz="1050">
                <a:solidFill>
                  <a:srgbClr val="333333"/>
                </a:solidFill>
              </a:rPr>
              <a:t>traffic flowing in and out of the organization.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10096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34859686" name="Shape 0"/>
          <p:cNvSpPr/>
          <p:nvPr/>
        </p:nvSpPr>
        <p:spPr bwMode="auto">
          <a:xfrm>
            <a:off x="0" y="0"/>
            <a:ext cx="1943100" cy="514350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365332172" name="Text 1"/>
          <p:cNvSpPr/>
          <p:nvPr/>
        </p:nvSpPr>
        <p:spPr bwMode="auto">
          <a:xfrm>
            <a:off x="428625" y="1188709"/>
            <a:ext cx="151447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  <a:defRPr/>
            </a:pPr>
            <a:r>
              <a:rPr lang="en-US" sz="4150" b="1">
                <a:solidFill>
                  <a:srgbClr val="F2F2F2"/>
                </a:solidFill>
              </a:rPr>
              <a:t>08</a:t>
            </a:r>
            <a:endParaRPr lang="en-US" sz="4150"/>
          </a:p>
        </p:txBody>
      </p:sp>
      <p:sp>
        <p:nvSpPr>
          <p:cNvPr id="299501181" name="Text 2"/>
          <p:cNvSpPr/>
          <p:nvPr/>
        </p:nvSpPr>
        <p:spPr bwMode="auto">
          <a:xfrm>
            <a:off x="428625" y="2234543"/>
            <a:ext cx="1514475" cy="37683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50" spc="2">
                <a:solidFill>
                  <a:srgbClr val="F2F2F2"/>
                </a:solidFill>
              </a:rPr>
              <a:t>Phase Eight</a:t>
            </a:r>
            <a:endParaRPr lang="en-US" sz="1250"/>
          </a:p>
        </p:txBody>
      </p:sp>
      <p:sp>
        <p:nvSpPr>
          <p:cNvPr id="595198874" name="Text 3"/>
          <p:cNvSpPr/>
          <p:nvPr/>
        </p:nvSpPr>
        <p:spPr bwMode="auto">
          <a:xfrm>
            <a:off x="2514600" y="1057275"/>
            <a:ext cx="60579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450" b="1">
                <a:solidFill>
                  <a:srgbClr val="1A1A1A"/>
                </a:solidFill>
              </a:rPr>
              <a:t>NAT Configuration</a:t>
            </a:r>
            <a:endParaRPr lang="en-US" sz="2450"/>
          </a:p>
        </p:txBody>
      </p:sp>
      <p:sp>
        <p:nvSpPr>
          <p:cNvPr id="295888819" name="Text 4"/>
          <p:cNvSpPr/>
          <p:nvPr/>
        </p:nvSpPr>
        <p:spPr bwMode="auto">
          <a:xfrm>
            <a:off x="2514600" y="1666280"/>
            <a:ext cx="6057900" cy="1771650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NAT allows all internal PCs to share a single </a:t>
            </a:r>
            <a:r>
              <a:rPr lang="en-US" sz="1000" b="1">
                <a:solidFill>
                  <a:srgbClr val="0055FF"/>
                </a:solidFill>
              </a:rPr>
              <a:t>public IP address</a:t>
            </a:r>
            <a:r>
              <a:rPr lang="en-US" sz="1050">
                <a:solidFill>
                  <a:srgbClr val="333333"/>
                </a:solidFill>
              </a:rPr>
              <a:t> (the WAN interface IP) </a:t>
            </a:r>
            <a:r>
              <a:rPr lang="en-US" sz="1050">
                <a:solidFill>
                  <a:srgbClr val="333333"/>
                </a:solidFill>
              </a:rPr>
              <a:t>when accessing the internet. All sub-interfaces (VLAN gateways) are marked as </a:t>
            </a:r>
            <a:r>
              <a:rPr lang="en-US" sz="1000" b="1">
                <a:solidFill>
                  <a:srgbClr val="0055FF"/>
                </a:solidFill>
              </a:rPr>
              <a:t>NAT inside </a:t>
            </a:r>
            <a:r>
              <a:rPr lang="en-US" sz="1000" b="1">
                <a:solidFill>
                  <a:srgbClr val="0055FF"/>
                </a:solidFill>
              </a:rPr>
              <a:t>interfaces</a:t>
            </a:r>
            <a:r>
              <a:rPr lang="en-US" sz="1050">
                <a:solidFill>
                  <a:srgbClr val="333333"/>
                </a:solidFill>
              </a:rPr>
              <a:t>, while the WAN interface is marked as </a:t>
            </a:r>
            <a:r>
              <a:rPr lang="en-US" sz="1000" b="1">
                <a:solidFill>
                  <a:srgbClr val="0055FF"/>
                </a:solidFill>
              </a:rPr>
              <a:t>NAT outside</a:t>
            </a:r>
            <a:r>
              <a:rPr lang="en-US" sz="1050">
                <a:solidFill>
                  <a:srgbClr val="333333"/>
                </a:solidFill>
              </a:rPr>
              <a:t>. An access control list (ACL) </a:t>
            </a:r>
            <a:r>
              <a:rPr lang="en-US" sz="1050">
                <a:solidFill>
                  <a:srgbClr val="333333"/>
                </a:solidFill>
              </a:rPr>
              <a:t>permits all internal network traffic (192.168.0.0/16) to be translated. The NAT rule uses </a:t>
            </a:r>
            <a:r>
              <a:rPr lang="en-US" sz="1000" b="1">
                <a:solidFill>
                  <a:srgbClr val="0055FF"/>
                </a:solidFill>
              </a:rPr>
              <a:t>PAT (Port Address Translation) with overload</a:t>
            </a:r>
            <a:r>
              <a:rPr lang="en-US" sz="1050">
                <a:solidFill>
                  <a:srgbClr val="333333"/>
                </a:solidFill>
              </a:rPr>
              <a:t>, allowing multiple internal devices to </a:t>
            </a:r>
            <a:r>
              <a:rPr lang="en-US" sz="1050">
                <a:solidFill>
                  <a:srgbClr val="333333"/>
                </a:solidFill>
              </a:rPr>
              <a:t>simultaneously access the internet using the same public IP. This configuration provides </a:t>
            </a:r>
            <a:r>
              <a:rPr lang="en-US" sz="1050">
                <a:solidFill>
                  <a:srgbClr val="333333"/>
                </a:solidFill>
              </a:rPr>
              <a:t>both network efficiency and security.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9666544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22971752" name="Shape 0"/>
          <p:cNvSpPr/>
          <p:nvPr/>
        </p:nvSpPr>
        <p:spPr bwMode="auto">
          <a:xfrm>
            <a:off x="0" y="0"/>
            <a:ext cx="1943100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44897032" name="Text 1"/>
          <p:cNvSpPr/>
          <p:nvPr/>
        </p:nvSpPr>
        <p:spPr bwMode="auto">
          <a:xfrm>
            <a:off x="428625" y="1188709"/>
            <a:ext cx="151447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  <a:defRPr/>
            </a:pPr>
            <a:r>
              <a:rPr lang="en-US" sz="4150" b="1">
                <a:solidFill>
                  <a:srgbClr val="F2F2F2"/>
                </a:solidFill>
              </a:rPr>
              <a:t>09</a:t>
            </a:r>
            <a:endParaRPr lang="en-US" sz="4150"/>
          </a:p>
        </p:txBody>
      </p:sp>
      <p:sp>
        <p:nvSpPr>
          <p:cNvPr id="2097141708" name="Text 2"/>
          <p:cNvSpPr/>
          <p:nvPr/>
        </p:nvSpPr>
        <p:spPr bwMode="auto">
          <a:xfrm>
            <a:off x="428625" y="2234543"/>
            <a:ext cx="1514475" cy="37683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50" spc="2">
                <a:solidFill>
                  <a:srgbClr val="F2F2F2"/>
                </a:solidFill>
              </a:rPr>
              <a:t>Phase Nine</a:t>
            </a:r>
            <a:endParaRPr lang="en-US" sz="1250"/>
          </a:p>
        </p:txBody>
      </p:sp>
      <p:sp>
        <p:nvSpPr>
          <p:cNvPr id="1000925575" name="Text 3"/>
          <p:cNvSpPr/>
          <p:nvPr/>
        </p:nvSpPr>
        <p:spPr bwMode="auto">
          <a:xfrm>
            <a:off x="2514600" y="1057275"/>
            <a:ext cx="60579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450" b="1">
                <a:solidFill>
                  <a:srgbClr val="1A1A1A"/>
                </a:solidFill>
              </a:rPr>
              <a:t>Internet Testing</a:t>
            </a:r>
            <a:endParaRPr lang="en-US" sz="2450"/>
          </a:p>
        </p:txBody>
      </p:sp>
      <p:sp>
        <p:nvSpPr>
          <p:cNvPr id="614642570" name="Text 4"/>
          <p:cNvSpPr/>
          <p:nvPr/>
        </p:nvSpPr>
        <p:spPr bwMode="auto">
          <a:xfrm>
            <a:off x="2514600" y="1666280"/>
            <a:ext cx="6057900" cy="1543050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050">
                <a:solidFill>
                  <a:srgbClr val="333333"/>
                </a:solidFill>
              </a:rPr>
              <a:t>From any PC in any VLAN, a ping to </a:t>
            </a:r>
            <a:r>
              <a:rPr lang="en-US" sz="1000" b="1">
                <a:solidFill>
                  <a:srgbClr val="FF6B35"/>
                </a:solidFill>
              </a:rPr>
              <a:t>8.8.8.8</a:t>
            </a:r>
            <a:r>
              <a:rPr lang="en-US" sz="1050">
                <a:solidFill>
                  <a:srgbClr val="333333"/>
                </a:solidFill>
              </a:rPr>
              <a:t> (the simulated internet) confirms end-to-end </a:t>
            </a:r>
            <a:r>
              <a:rPr lang="en-US" sz="1050">
                <a:solidFill>
                  <a:srgbClr val="333333"/>
                </a:solidFill>
              </a:rPr>
              <a:t>connectivity. The packet travels from the PC to its VLAN gateway, through the router's </a:t>
            </a:r>
            <a:r>
              <a:rPr lang="en-US" sz="1050">
                <a:solidFill>
                  <a:srgbClr val="333333"/>
                </a:solidFill>
              </a:rPr>
              <a:t>inter-VLAN routing, out the WAN interface with </a:t>
            </a:r>
            <a:r>
              <a:rPr lang="en-US" sz="1000" b="1">
                <a:solidFill>
                  <a:srgbClr val="FF6B35"/>
                </a:solidFill>
              </a:rPr>
              <a:t>NAT translation</a:t>
            </a:r>
            <a:r>
              <a:rPr lang="en-US" sz="1050">
                <a:solidFill>
                  <a:srgbClr val="333333"/>
                </a:solidFill>
              </a:rPr>
              <a:t>, to the ISP Router, and to </a:t>
            </a:r>
            <a:r>
              <a:rPr lang="en-US" sz="1050">
                <a:solidFill>
                  <a:srgbClr val="333333"/>
                </a:solidFill>
              </a:rPr>
              <a:t>the loopback interface. The response follows the reverse path. Checking </a:t>
            </a:r>
            <a:r>
              <a:rPr lang="en-US" sz="1000" b="1">
                <a:solidFill>
                  <a:srgbClr val="FF6B35"/>
                </a:solidFill>
              </a:rPr>
              <a:t>NAT statistics</a:t>
            </a:r>
            <a:r>
              <a:rPr lang="en-US" sz="1050">
                <a:solidFill>
                  <a:srgbClr val="333333"/>
                </a:solidFill>
              </a:rPr>
              <a:t> on </a:t>
            </a:r>
            <a:r>
              <a:rPr lang="en-US" sz="1050">
                <a:solidFill>
                  <a:srgbClr val="333333"/>
                </a:solidFill>
              </a:rPr>
              <a:t>the router shows active translations, confirming that NAT is functioning. This </a:t>
            </a:r>
            <a:r>
              <a:rPr lang="en-US" sz="1050">
                <a:solidFill>
                  <a:srgbClr val="333333"/>
                </a:solidFill>
              </a:rPr>
              <a:t>comprehensive test validates that all nine phases are working together correctly.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119141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28845090" name="Shape 0"/>
          <p:cNvSpPr/>
          <p:nvPr/>
        </p:nvSpPr>
        <p:spPr bwMode="auto">
          <a:xfrm flipH="0" flipV="0">
            <a:off x="0" y="0"/>
            <a:ext cx="9144000" cy="8377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75378698" name="Text 1"/>
          <p:cNvSpPr/>
          <p:nvPr/>
        </p:nvSpPr>
        <p:spPr bwMode="auto">
          <a:xfrm flipH="0" flipV="0">
            <a:off x="178593" y="252469"/>
            <a:ext cx="8573220" cy="406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450" b="1">
                <a:solidFill>
                  <a:srgbClr val="F2F2F2"/>
                </a:solidFill>
              </a:rPr>
              <a:t>Summary &amp; Key Takeaways</a:t>
            </a:r>
            <a:endParaRPr lang="en-US" sz="2450"/>
          </a:p>
        </p:txBody>
      </p:sp>
      <p:sp>
        <p:nvSpPr>
          <p:cNvPr id="692346717" name="Text 2"/>
          <p:cNvSpPr/>
          <p:nvPr/>
        </p:nvSpPr>
        <p:spPr bwMode="auto">
          <a:xfrm>
            <a:off x="571500" y="942975"/>
            <a:ext cx="3893344" cy="348258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00" b="1">
                <a:solidFill>
                  <a:srgbClr val="1A1A1A"/>
                </a:solidFill>
              </a:rPr>
              <a:t>Five Core Concepts Mastered</a:t>
            </a:r>
            <a:endParaRPr lang="en-US" sz="1200"/>
          </a:p>
        </p:txBody>
      </p:sp>
      <p:sp>
        <p:nvSpPr>
          <p:cNvPr id="264176687" name="Text 3"/>
          <p:cNvSpPr/>
          <p:nvPr/>
        </p:nvSpPr>
        <p:spPr bwMode="auto">
          <a:xfrm>
            <a:off x="571500" y="1376958"/>
            <a:ext cx="3893344" cy="224303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900" b="1">
                <a:solidFill>
                  <a:srgbClr val="0055FF"/>
                </a:solidFill>
              </a:rPr>
              <a:t>1. VLAN Segmentation</a:t>
            </a:r>
            <a:r>
              <a:rPr lang="en-US" sz="950">
                <a:solidFill>
                  <a:srgbClr val="333333"/>
                </a:solidFill>
              </a:rPr>
              <a:t> — Logical isolation for security.</a:t>
            </a:r>
            <a:endParaRPr lang="en-US" sz="900"/>
          </a:p>
        </p:txBody>
      </p:sp>
      <p:sp>
        <p:nvSpPr>
          <p:cNvPr id="1293953918" name="Text 4"/>
          <p:cNvSpPr/>
          <p:nvPr/>
        </p:nvSpPr>
        <p:spPr bwMode="auto">
          <a:xfrm>
            <a:off x="571500" y="1601260"/>
            <a:ext cx="3893344" cy="224303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900" b="1">
                <a:solidFill>
                  <a:srgbClr val="0055FF"/>
                </a:solidFill>
              </a:rPr>
              <a:t>2. Trunk Configuration</a:t>
            </a:r>
            <a:r>
              <a:rPr lang="en-US" sz="950">
                <a:solidFill>
                  <a:srgbClr val="333333"/>
                </a:solidFill>
              </a:rPr>
              <a:t> — Multi-VLAN transport over one link.</a:t>
            </a:r>
            <a:endParaRPr lang="en-US" sz="900"/>
          </a:p>
        </p:txBody>
      </p:sp>
      <p:sp>
        <p:nvSpPr>
          <p:cNvPr id="982916246" name="Text 5"/>
          <p:cNvSpPr/>
          <p:nvPr/>
        </p:nvSpPr>
        <p:spPr bwMode="auto">
          <a:xfrm>
            <a:off x="571500" y="1825562"/>
            <a:ext cx="3893344" cy="224303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900" b="1">
                <a:solidFill>
                  <a:srgbClr val="0055FF"/>
                </a:solidFill>
              </a:rPr>
              <a:t>3. Router-on-a-Stick</a:t>
            </a:r>
            <a:r>
              <a:rPr lang="en-US" sz="950">
                <a:solidFill>
                  <a:srgbClr val="333333"/>
                </a:solidFill>
              </a:rPr>
              <a:t> — Inter-VLAN routing via sub-interfaces.</a:t>
            </a:r>
            <a:endParaRPr lang="en-US" sz="900"/>
          </a:p>
        </p:txBody>
      </p:sp>
      <p:sp>
        <p:nvSpPr>
          <p:cNvPr id="1334896479" name="Text 6"/>
          <p:cNvSpPr/>
          <p:nvPr/>
        </p:nvSpPr>
        <p:spPr bwMode="auto">
          <a:xfrm>
            <a:off x="571500" y="2049866"/>
            <a:ext cx="3893344" cy="224303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900" b="1">
                <a:solidFill>
                  <a:srgbClr val="0055FF"/>
                </a:solidFill>
              </a:rPr>
              <a:t>4. DHCP Automation</a:t>
            </a:r>
            <a:r>
              <a:rPr lang="en-US" sz="950">
                <a:solidFill>
                  <a:srgbClr val="333333"/>
                </a:solidFill>
              </a:rPr>
              <a:t> — Automated IP assignment.</a:t>
            </a:r>
            <a:endParaRPr lang="en-US" sz="900"/>
          </a:p>
        </p:txBody>
      </p:sp>
      <p:sp>
        <p:nvSpPr>
          <p:cNvPr id="1208907889" name="Text 7"/>
          <p:cNvSpPr/>
          <p:nvPr/>
        </p:nvSpPr>
        <p:spPr bwMode="auto">
          <a:xfrm>
            <a:off x="571500" y="2274168"/>
            <a:ext cx="3893344" cy="224303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900" b="1">
                <a:solidFill>
                  <a:srgbClr val="0055FF"/>
                </a:solidFill>
              </a:rPr>
              <a:t>5. NAT &amp; Internet Access</a:t>
            </a:r>
            <a:r>
              <a:rPr lang="en-US" sz="950">
                <a:solidFill>
                  <a:srgbClr val="333333"/>
                </a:solidFill>
              </a:rPr>
              <a:t> — PAT-based secure Internet access.</a:t>
            </a:r>
            <a:endParaRPr lang="en-US" sz="900"/>
          </a:p>
        </p:txBody>
      </p:sp>
      <p:sp>
        <p:nvSpPr>
          <p:cNvPr id="2069810230" name="Text 8"/>
          <p:cNvSpPr/>
          <p:nvPr/>
        </p:nvSpPr>
        <p:spPr bwMode="auto">
          <a:xfrm>
            <a:off x="4679156" y="942975"/>
            <a:ext cx="3893344" cy="348258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  <a:defRPr/>
            </a:pPr>
            <a:r>
              <a:rPr lang="en-US" sz="1200" b="1">
                <a:solidFill>
                  <a:srgbClr val="1A1A1A"/>
                </a:solidFill>
              </a:rPr>
              <a:t>CCNA Certification Alignment</a:t>
            </a:r>
            <a:endParaRPr lang="en-US" sz="1200"/>
          </a:p>
        </p:txBody>
      </p:sp>
      <p:sp>
        <p:nvSpPr>
          <p:cNvPr id="235368721" name="Text 9"/>
          <p:cNvSpPr/>
          <p:nvPr/>
        </p:nvSpPr>
        <p:spPr bwMode="auto">
          <a:xfrm>
            <a:off x="4679156" y="1376958"/>
            <a:ext cx="3893344" cy="224303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900" b="1">
                <a:solidFill>
                  <a:srgbClr val="FF6B35"/>
                </a:solidFill>
              </a:rPr>
              <a:t>Exam Topics Covered</a:t>
            </a:r>
            <a:r>
              <a:rPr lang="en-US" sz="950">
                <a:solidFill>
                  <a:srgbClr val="333333"/>
                </a:solidFill>
              </a:rPr>
              <a:t> — 802.1Q, static routing, NAT.</a:t>
            </a:r>
            <a:endParaRPr lang="en-US" sz="900"/>
          </a:p>
        </p:txBody>
      </p:sp>
      <p:sp>
        <p:nvSpPr>
          <p:cNvPr id="1956781218" name="Text 10"/>
          <p:cNvSpPr/>
          <p:nvPr/>
        </p:nvSpPr>
        <p:spPr bwMode="auto">
          <a:xfrm>
            <a:off x="4679156" y="1601260"/>
            <a:ext cx="3893344" cy="224303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900" b="1">
                <a:solidFill>
                  <a:srgbClr val="FF6B35"/>
                </a:solidFill>
              </a:rPr>
              <a:t>Real-World Skills</a:t>
            </a:r>
            <a:r>
              <a:rPr lang="en-US" sz="950">
                <a:solidFill>
                  <a:srgbClr val="333333"/>
                </a:solidFill>
              </a:rPr>
              <a:t> — Enterprise design patterns.</a:t>
            </a:r>
            <a:endParaRPr lang="en-US" sz="900"/>
          </a:p>
        </p:txBody>
      </p:sp>
      <p:sp>
        <p:nvSpPr>
          <p:cNvPr id="1116875236" name="Text 11"/>
          <p:cNvSpPr/>
          <p:nvPr/>
        </p:nvSpPr>
        <p:spPr bwMode="auto">
          <a:xfrm>
            <a:off x="4679156" y="1825562"/>
            <a:ext cx="3893344" cy="224303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900" b="1">
                <a:solidFill>
                  <a:srgbClr val="FF6B35"/>
                </a:solidFill>
              </a:rPr>
              <a:t>Portfolio Building</a:t>
            </a:r>
            <a:r>
              <a:rPr lang="en-US" sz="950">
                <a:solidFill>
                  <a:srgbClr val="333333"/>
                </a:solidFill>
              </a:rPr>
              <a:t> — Simulation project evidence.</a:t>
            </a:r>
            <a:endParaRPr lang="en-US" sz="900"/>
          </a:p>
        </p:txBody>
      </p:sp>
      <p:sp>
        <p:nvSpPr>
          <p:cNvPr id="941388867" name="Text 12"/>
          <p:cNvSpPr/>
          <p:nvPr/>
        </p:nvSpPr>
        <p:spPr bwMode="auto">
          <a:xfrm>
            <a:off x="4679156" y="2049866"/>
            <a:ext cx="3893344" cy="224303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900" b="1">
                <a:solidFill>
                  <a:srgbClr val="FF6B35"/>
                </a:solidFill>
              </a:rPr>
              <a:t>Career Readiness</a:t>
            </a:r>
            <a:r>
              <a:rPr lang="en-US" sz="950">
                <a:solidFill>
                  <a:srgbClr val="333333"/>
                </a:solidFill>
              </a:rPr>
              <a:t> — Foundation for network roles.</a:t>
            </a:r>
            <a:endParaRPr lang="en-US" sz="900"/>
          </a:p>
        </p:txBody>
      </p:sp>
      <p:sp>
        <p:nvSpPr>
          <p:cNvPr id="1307508373" name="Text 13"/>
          <p:cNvSpPr/>
          <p:nvPr/>
        </p:nvSpPr>
        <p:spPr bwMode="auto">
          <a:xfrm>
            <a:off x="4679156" y="2274168"/>
            <a:ext cx="3893344" cy="224303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  <a:defRPr/>
            </a:pPr>
            <a:r>
              <a:rPr lang="en-US" sz="900" b="1">
                <a:solidFill>
                  <a:srgbClr val="FF6B35"/>
                </a:solidFill>
              </a:rPr>
              <a:t>Continuous Learning</a:t>
            </a:r>
            <a:r>
              <a:rPr lang="en-US" sz="950">
                <a:solidFill>
                  <a:srgbClr val="333333"/>
                </a:solidFill>
              </a:rPr>
              <a:t> — Path to advanced topics.</a:t>
            </a:r>
            <a:endParaRPr lang="en-US" sz="900"/>
          </a:p>
        </p:txBody>
      </p:sp>
      <p:sp>
        <p:nvSpPr>
          <p:cNvPr id="1693323515" name="Text 14"/>
          <p:cNvSpPr/>
          <p:nvPr/>
        </p:nvSpPr>
        <p:spPr bwMode="auto">
          <a:xfrm>
            <a:off x="571500" y="4772025"/>
            <a:ext cx="8001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100" b="1" spc="2">
                <a:solidFill>
                  <a:srgbClr val="0055FF"/>
                </a:solidFill>
              </a:rPr>
              <a:t>You are now ready for the next challenge.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2</cp:revision>
  <dcterms:created xsi:type="dcterms:W3CDTF">2026-01-18T03:45:38Z</dcterms:created>
  <dcterms:modified xsi:type="dcterms:W3CDTF">2026-01-18T06:44:33Z</dcterms:modified>
</cp:coreProperties>
</file>